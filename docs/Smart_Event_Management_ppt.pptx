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Problems vs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Technology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flow from frontend to storage; the agent shares the service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loop: perceive, reason, act,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LOSING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image" Target="../media/CONTENT-image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365760"/>
            <a:ext cx="1737360" cy="30906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365760"/>
            <a:ext cx="1737360" cy="309067"/>
          </a:xfrm>
          <a:prstGeom prst="rect">
            <a:avLst/>
          </a:prstGeom>
        </p:spPr>
      </p:pic>
      <p:pic>
        <p:nvPicPr>
          <p:cNvPr id="3" name="Image 1" descr="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1005840" cy="4114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566928"/>
            <a:ext cx="62179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Calenda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50" y="316382"/>
            <a:ext cx="373075" cy="37307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05840" y="3474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Smart Event Management</a:t>
            </a:r>
            <a:endParaRPr lang="en-US" sz="1400" dirty="0"/>
          </a:p>
        </p:txBody>
      </p:sp>
      <p:pic>
        <p:nvPicPr>
          <p:cNvPr id="4" name="Image 1" descr="Infosys Spring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20040"/>
            <a:ext cx="1920240" cy="341986"/>
          </a:xfrm>
          <a:prstGeom prst="rect">
            <a:avLst/>
          </a:prstGeom>
        </p:spPr>
      </p:pic>
      <p:sp>
        <p:nvSpPr>
          <p:cNvPr id="5" name="Tag pill"/>
          <p:cNvSpPr/>
          <p:nvPr/>
        </p:nvSpPr>
        <p:spPr>
          <a:xfrm>
            <a:off x="2468880" y="822960"/>
            <a:ext cx="4206240" cy="347472"/>
          </a:xfrm>
          <a:prstGeom prst="roundRect">
            <a:avLst>
              <a:gd name="adj" fmla="val 50000"/>
            </a:avLst>
          </a:prstGeom>
          <a:solidFill>
            <a:srgbClr val="38E8FF">
              <a:alpha val="12000"/>
            </a:srgbClr>
          </a:solidFill>
          <a:ln w="12700">
            <a:solidFill>
              <a:srgbClr val="38E8F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2468880" y="822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AGENTIC AI  ·  EVENT MANAGEMENT PLATFORM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chemeClr val="accent4"/>
                </a:solidFill>
              </a:rPr>
              <a:t>AGENTIC AI POWERED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169164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Smart Event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Management System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1828800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full-stack platform with an autonomous LangGraph agent and hybrid RAG for event discovery, registration and administration.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931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PRESENTED BY – TEAM C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1879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Swati, Nithin, Pushpa, Sonali, Yugant, Sravanthi, Sushmitha &amp; Sumit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120640" y="3931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UNDER THE GUIDANCE OF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120640" y="4187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Mr. Thangarasu M</a:t>
            </a:r>
            <a:endParaRPr lang="en-US" sz="1700" dirty="0"/>
          </a:p>
        </p:txBody>
      </p:sp>
      <p:pic>
        <p:nvPicPr>
          <p:cNvPr id="14" name="Image 2" descr="Infosys Springbo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681728"/>
            <a:ext cx="1828800" cy="325526"/>
          </a:xfrm>
          <a:prstGeom prst="rect">
            <a:avLst/>
          </a:prstGeom>
        </p:spPr>
      </p:pic>
      <p:pic>
        <p:nvPicPr>
          <p:cNvPr id="15" name="Image 3" descr="EventBot masc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371600"/>
            <a:ext cx="1783080" cy="18928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AGENTIC AI  ·  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56692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Introduction</a:t>
            </a:r>
            <a:endParaRPr lang="en-US" sz="2800" dirty="0"/>
          </a:p>
        </p:txBody>
      </p:sp>
      <p:pic>
        <p:nvPicPr>
          <p:cNvPr id="4" name="Image 0" descr="Event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27448"/>
            <a:ext cx="329184" cy="329184"/>
          </a:xfrm>
          <a:prstGeom prst="rect">
            <a:avLst/>
          </a:prstGeom>
        </p:spPr>
      </p:pic>
      <p:sp>
        <p:nvSpPr>
          <p:cNvPr id="5" name="EventBot bubble"/>
          <p:cNvSpPr/>
          <p:nvPr/>
        </p:nvSpPr>
        <p:spPr>
          <a:xfrm>
            <a:off x="960120" y="4754880"/>
            <a:ext cx="69494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8E8FF">
                <a:alpha val="45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15568" y="4754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EventBot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Hi! I search events, register you and answer policy questions.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258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An agentic AI platform to create, discover, register for and administer events. An autonomous LangGraph agent reasons over each request, calls live tools and answers from policy documents.</a:t>
            </a:r>
            <a:endParaRPr lang="en-US" sz="1500" dirty="0"/>
          </a:p>
        </p:txBody>
      </p:sp>
      <p:sp>
        <p:nvSpPr>
          <p:cNvPr id="8" name="Glass card"/>
          <p:cNvSpPr/>
          <p:nvPr/>
        </p:nvSpPr>
        <p:spPr>
          <a:xfrm>
            <a:off x="548640" y="2514600"/>
            <a:ext cx="5029200" cy="603504"/>
          </a:xfrm>
          <a:prstGeom prst="roundRect">
            <a:avLst>
              <a:gd name="adj" fmla="val 1515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9" name="Image 1" descr="Fa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" y="2574950"/>
            <a:ext cx="482803" cy="48280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5786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Attendees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28437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Search, register, pay, give feedback</a:t>
            </a:r>
            <a:endParaRPr lang="en-US" sz="1250" dirty="0"/>
          </a:p>
        </p:txBody>
      </p:sp>
      <p:sp>
        <p:nvSpPr>
          <p:cNvPr id="12" name="Glass card"/>
          <p:cNvSpPr/>
          <p:nvPr/>
        </p:nvSpPr>
        <p:spPr>
          <a:xfrm>
            <a:off x="548640" y="3227832"/>
            <a:ext cx="5029200" cy="603504"/>
          </a:xfrm>
          <a:prstGeom prst="roundRect">
            <a:avLst>
              <a:gd name="adj" fmla="val 1515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3" name="Image 2" descr="FaUser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" y="3288182"/>
            <a:ext cx="482803" cy="48280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291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Admins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35570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Manage events, venues, users, payments</a:t>
            </a:r>
            <a:endParaRPr lang="en-US" sz="1250" dirty="0"/>
          </a:p>
        </p:txBody>
      </p:sp>
      <p:sp>
        <p:nvSpPr>
          <p:cNvPr id="16" name="Glass card"/>
          <p:cNvSpPr/>
          <p:nvPr/>
        </p:nvSpPr>
        <p:spPr>
          <a:xfrm>
            <a:off x="548640" y="3941064"/>
            <a:ext cx="5029200" cy="603504"/>
          </a:xfrm>
          <a:prstGeom prst="roundRect">
            <a:avLst>
              <a:gd name="adj" fmla="val 1515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7" name="Image 3" descr="EventB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995928"/>
            <a:ext cx="493776" cy="49377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40050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 Agent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42702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Role-aware tools, policy-grounded answers</a:t>
            </a:r>
            <a:endParaRPr lang="en-US" sz="1250" dirty="0"/>
          </a:p>
        </p:txBody>
      </p:sp>
      <p:sp>
        <p:nvSpPr>
          <p:cNvPr id="20" name="Stat card"/>
          <p:cNvSpPr/>
          <p:nvPr/>
        </p:nvSpPr>
        <p:spPr>
          <a:xfrm>
            <a:off x="6035040" y="132588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217920" y="132588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accent1"/>
                </a:solidFill>
              </a:rPr>
              <a:t>12</a:t>
            </a:r>
            <a:endParaRPr lang="en-US" sz="4200" dirty="0"/>
          </a:p>
        </p:txBody>
      </p:sp>
      <p:sp>
        <p:nvSpPr>
          <p:cNvPr id="22" name="Text 16"/>
          <p:cNvSpPr txBox="1"/>
          <p:nvPr/>
        </p:nvSpPr>
        <p:spPr>
          <a:xfrm>
            <a:off x="7132320" y="132588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role-aware AI tools</a:t>
            </a:r>
            <a:endParaRPr lang="en-US" sz="1300" dirty="0"/>
          </a:p>
        </p:txBody>
      </p:sp>
      <p:sp>
        <p:nvSpPr>
          <p:cNvPr id="23" name="Stat card"/>
          <p:cNvSpPr/>
          <p:nvPr/>
        </p:nvSpPr>
        <p:spPr>
          <a:xfrm>
            <a:off x="6035040" y="242316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217920" y="242316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accent1"/>
                </a:solidFill>
              </a:rPr>
              <a:t>9</a:t>
            </a:r>
            <a:endParaRPr lang="en-US" sz="42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0" y="242316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REST API groups</a:t>
            </a:r>
            <a:endParaRPr lang="en-US" sz="1300" dirty="0"/>
          </a:p>
        </p:txBody>
      </p:sp>
      <p:sp>
        <p:nvSpPr>
          <p:cNvPr id="26" name="Stat card"/>
          <p:cNvSpPr/>
          <p:nvPr/>
        </p:nvSpPr>
        <p:spPr>
          <a:xfrm>
            <a:off x="6035040" y="35204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217920" y="352044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accent1"/>
                </a:solidFill>
              </a:rPr>
              <a:t>13</a:t>
            </a:r>
            <a:endParaRPr lang="en-US" sz="4200" dirty="0"/>
          </a:p>
        </p:txBody>
      </p:sp>
      <p:sp>
        <p:nvSpPr>
          <p:cNvPr id="28" name="Text 22"/>
          <p:cNvSpPr txBox="1"/>
          <p:nvPr/>
        </p:nvSpPr>
        <p:spPr>
          <a:xfrm>
            <a:off x="7132320" y="352044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database tables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AGENTIC AI  ·  PROBLEM &amp; GOAL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56692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Problem Statement &amp; Objectives</a:t>
            </a:r>
            <a:endParaRPr lang="en-US" sz="2800" dirty="0"/>
          </a:p>
        </p:txBody>
      </p:sp>
      <p:pic>
        <p:nvPicPr>
          <p:cNvPr id="4" name="Image 0" descr="Event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27448"/>
            <a:ext cx="329184" cy="329184"/>
          </a:xfrm>
          <a:prstGeom prst="rect">
            <a:avLst/>
          </a:prstGeom>
        </p:spPr>
      </p:pic>
      <p:sp>
        <p:nvSpPr>
          <p:cNvPr id="5" name="EventBot bubble"/>
          <p:cNvSpPr/>
          <p:nvPr/>
        </p:nvSpPr>
        <p:spPr>
          <a:xfrm>
            <a:off x="960120" y="4754880"/>
            <a:ext cx="69494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8E8FF">
                <a:alpha val="45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15568" y="4754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EventBot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 replace scattered tools and manual tracking with one smart assistant.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89204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WITH THE AGENT</a:t>
            </a:r>
            <a:endParaRPr lang="en-US" sz="1100" dirty="0"/>
          </a:p>
        </p:txBody>
      </p:sp>
      <p:sp>
        <p:nvSpPr>
          <p:cNvPr id="9" name="Glass card"/>
          <p:cNvSpPr/>
          <p:nvPr/>
        </p:nvSpPr>
        <p:spPr>
          <a:xfrm>
            <a:off x="548640" y="16459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0" name="Image 1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70" y="1823314"/>
            <a:ext cx="504749" cy="50474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Scattered tools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029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Listings, registrations, venues and payments in separate tools</a:t>
            </a:r>
            <a:endParaRPr lang="en-US" sz="1250" dirty="0"/>
          </a:p>
        </p:txBody>
      </p:sp>
      <p:sp>
        <p:nvSpPr>
          <p:cNvPr id="13" name="Glass card"/>
          <p:cNvSpPr/>
          <p:nvPr/>
        </p:nvSpPr>
        <p:spPr>
          <a:xfrm>
            <a:off x="548640" y="2633472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4" name="Image 2" descr="FaTim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70" y="2810866"/>
            <a:ext cx="504749" cy="50474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2724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Manual tracking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Admins track seats and bookings by hand</a:t>
            </a:r>
            <a:endParaRPr lang="en-US" sz="1250" dirty="0"/>
          </a:p>
        </p:txBody>
      </p:sp>
      <p:sp>
        <p:nvSpPr>
          <p:cNvPr id="17" name="Glass card"/>
          <p:cNvSpPr/>
          <p:nvPr/>
        </p:nvSpPr>
        <p:spPr>
          <a:xfrm>
            <a:off x="548640" y="3621024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8" name="Image 3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70" y="3798418"/>
            <a:ext cx="504749" cy="50474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71600" y="37124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No smart help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371600" y="40050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Chatbots answer but cannot act on live data</a:t>
            </a:r>
            <a:endParaRPr lang="en-US" sz="1250" dirty="0"/>
          </a:p>
        </p:txBody>
      </p:sp>
      <p:sp>
        <p:nvSpPr>
          <p:cNvPr id="21" name="Objectives panel"/>
          <p:cNvSpPr/>
          <p:nvPr/>
        </p:nvSpPr>
        <p:spPr>
          <a:xfrm>
            <a:off x="4892040" y="1645920"/>
            <a:ext cx="370332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22" name="Image 4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6515" y="1836115"/>
            <a:ext cx="460858" cy="46085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669280" y="17830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One REST API for all event workflows</a:t>
            </a:r>
            <a:endParaRPr lang="en-US" sz="1350" dirty="0"/>
          </a:p>
        </p:txBody>
      </p:sp>
      <p:pic>
        <p:nvPicPr>
          <p:cNvPr id="24" name="Image 5" descr="Fa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6515" y="2512771"/>
            <a:ext cx="460858" cy="46085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669280" y="245973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JWT login with USER, ADMIN and MAIN_ADMIN roles</a:t>
            </a:r>
            <a:endParaRPr lang="en-US" sz="1350" dirty="0"/>
          </a:p>
        </p:txBody>
      </p:sp>
      <p:pic>
        <p:nvPicPr>
          <p:cNvPr id="26" name="Image 6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6515" y="3189427"/>
            <a:ext cx="460858" cy="46085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669280" y="313639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LangGraph agent with 12 live, role-aware tools</a:t>
            </a:r>
            <a:endParaRPr lang="en-US" sz="1350" dirty="0"/>
          </a:p>
        </p:txBody>
      </p:sp>
      <p:pic>
        <p:nvPicPr>
          <p:cNvPr id="28" name="Image 7" descr="Fa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6515" y="3866083"/>
            <a:ext cx="460858" cy="460858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5669280" y="381304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Hybrid RAG for grounded policy answers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AGENTIC AI  ·  TECHNOLOGY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56692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Tools &amp; Technology Stack</a:t>
            </a:r>
            <a:endParaRPr lang="en-US" sz="2800" dirty="0"/>
          </a:p>
        </p:txBody>
      </p:sp>
      <p:pic>
        <p:nvPicPr>
          <p:cNvPr id="4" name="Image 0" descr="Event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27448"/>
            <a:ext cx="329184" cy="329184"/>
          </a:xfrm>
          <a:prstGeom prst="rect">
            <a:avLst/>
          </a:prstGeom>
        </p:spPr>
      </p:pic>
      <p:sp>
        <p:nvSpPr>
          <p:cNvPr id="5" name="EventBot bubble"/>
          <p:cNvSpPr/>
          <p:nvPr/>
        </p:nvSpPr>
        <p:spPr>
          <a:xfrm>
            <a:off x="960120" y="4754880"/>
            <a:ext cx="69494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8E8FF">
                <a:alpha val="45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15568" y="4754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EventBot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Under my hood: React, FastAPI, PostgreSQL + pgvector and LangGraph.</a:t>
            </a:r>
            <a:endParaRPr lang="en-US" sz="1100" dirty="0"/>
          </a:p>
        </p:txBody>
      </p:sp>
      <p:sp>
        <p:nvSpPr>
          <p:cNvPr id="7" name="Glass card"/>
          <p:cNvSpPr/>
          <p:nvPr/>
        </p:nvSpPr>
        <p:spPr>
          <a:xfrm>
            <a:off x="548640" y="13716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8" name="Image 1" descr="Fa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8" y="1494130"/>
            <a:ext cx="504749" cy="5047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3619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Frameworks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08483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accent5"/>
                </a:solidFill>
              </a:rPr>
              <a:t>Python 3.11, FastAPI, Uvicorn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accent5"/>
                </a:solidFill>
              </a:rPr>
              <a:t>React 19 + Vite, React Router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accent5"/>
                </a:solidFill>
              </a:rPr>
              <a:t>Three.js 3D visuals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accent5"/>
                </a:solidFill>
              </a:rPr>
              <a:t>Pydantic validation</a:t>
            </a:r>
            <a:endParaRPr lang="en-US" sz="1250" dirty="0"/>
          </a:p>
        </p:txBody>
      </p:sp>
      <p:sp>
        <p:nvSpPr>
          <p:cNvPr id="11" name="Glass card"/>
          <p:cNvSpPr/>
          <p:nvPr/>
        </p:nvSpPr>
        <p:spPr>
          <a:xfrm>
            <a:off x="4663440" y="13716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2" name="Image 2" descr="FaRob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258" y="1494130"/>
            <a:ext cx="504749" cy="50474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40680" y="153619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LLM, AI &amp; Retrieval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208483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accent5"/>
                </a:solidFill>
              </a:rPr>
              <a:t>LangGraph agent (LangChain)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accent5"/>
                </a:solidFill>
              </a:rPr>
              <a:t>gpt-oss-120b via OpenRouter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accent5"/>
                </a:solidFill>
              </a:rPr>
              <a:t>bge-small-en-v1.5 embeddings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accent5"/>
                </a:solidFill>
              </a:rPr>
              <a:t>MarkItDown + hybrid RAG</a:t>
            </a:r>
            <a:endParaRPr lang="en-US" sz="1250" dirty="0"/>
          </a:p>
        </p:txBody>
      </p:sp>
      <p:sp>
        <p:nvSpPr>
          <p:cNvPr id="15" name="Glass card"/>
          <p:cNvSpPr/>
          <p:nvPr/>
        </p:nvSpPr>
        <p:spPr>
          <a:xfrm>
            <a:off x="548640" y="30632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6" name="Image 3" descr="Fa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8" y="3185770"/>
            <a:ext cx="504749" cy="50474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22783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 &amp; Storage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777240" y="377647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accent5"/>
                </a:solidFill>
              </a:rPr>
              <a:t>PostgreSQL + pgvector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accent5"/>
                </a:solidFill>
              </a:rPr>
              <a:t>SQLAlchemy ORM, Alembic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accent5"/>
                </a:solidFill>
              </a:rPr>
              <a:t>Full-text search (tsvector)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accent5"/>
                </a:solidFill>
              </a:rPr>
              <a:t>Redis cache</a:t>
            </a:r>
            <a:endParaRPr lang="en-US" sz="1250" dirty="0"/>
          </a:p>
        </p:txBody>
      </p:sp>
      <p:sp>
        <p:nvSpPr>
          <p:cNvPr id="19" name="Glass card"/>
          <p:cNvSpPr/>
          <p:nvPr/>
        </p:nvSpPr>
        <p:spPr>
          <a:xfrm>
            <a:off x="4663440" y="30632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20" name="Image 4" descr="FaShield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4258" y="3185770"/>
            <a:ext cx="504749" cy="50474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40680" y="322783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Security &amp; Deployment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4892040" y="377647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accent5"/>
                </a:solidFill>
              </a:rPr>
              <a:t>JWT + bcrypt, role-based access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accent5"/>
                </a:solidFill>
              </a:rPr>
              <a:t>pytest, 166 tests passing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accent5"/>
                </a:solidFill>
              </a:rPr>
              <a:t>Docker Compose, uv, npm</a:t>
            </a:r>
            <a:endParaRPr lang="en-US" sz="12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50" dirty="0">
                <a:solidFill>
                  <a:schemeClr val="accent5"/>
                </a:solidFill>
              </a:rPr>
              <a:t>Git and GitHub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AGENTIC AI  ·  ARCHITECTURE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56692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System Architecture</a:t>
            </a:r>
            <a:endParaRPr lang="en-US" sz="2800" dirty="0"/>
          </a:p>
        </p:txBody>
      </p:sp>
      <p:pic>
        <p:nvPicPr>
          <p:cNvPr id="4" name="Image 0" descr="Event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27448"/>
            <a:ext cx="329184" cy="329184"/>
          </a:xfrm>
          <a:prstGeom prst="rect">
            <a:avLst/>
          </a:prstGeom>
        </p:spPr>
      </p:pic>
      <p:sp>
        <p:nvSpPr>
          <p:cNvPr id="5" name="EventBot bubble"/>
          <p:cNvSpPr/>
          <p:nvPr/>
        </p:nvSpPr>
        <p:spPr>
          <a:xfrm>
            <a:off x="960120" y="4754880"/>
            <a:ext cx="69494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8E8FF">
                <a:alpha val="45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15568" y="4754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EventBot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Every tool I use goes through the same service layer, never raw SQL.</a:t>
            </a:r>
            <a:endParaRPr lang="en-US" sz="1100" dirty="0"/>
          </a:p>
        </p:txBody>
      </p:sp>
      <p:sp>
        <p:nvSpPr>
          <p:cNvPr id="7" name="Glass card"/>
          <p:cNvSpPr/>
          <p:nvPr/>
        </p:nvSpPr>
        <p:spPr>
          <a:xfrm>
            <a:off x="548640" y="137160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8" name="Image 1" descr="FaDesk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548640" cy="548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React Frontend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450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Public site, user area, 9-page admin panel</a:t>
            </a:r>
            <a:endParaRPr lang="en-US" sz="1200" dirty="0"/>
          </a:p>
        </p:txBody>
      </p:sp>
      <p:sp>
        <p:nvSpPr>
          <p:cNvPr id="11" name="Flow arrow"/>
          <p:cNvSpPr/>
          <p:nvPr/>
        </p:nvSpPr>
        <p:spPr>
          <a:xfrm>
            <a:off x="2377440" y="2103120"/>
            <a:ext cx="228600" cy="256032"/>
          </a:xfrm>
          <a:prstGeom prst="rightArrow">
            <a:avLst/>
          </a:prstGeom>
          <a:solidFill>
            <a:srgbClr val="38E8FF"/>
          </a:solidFill>
          <a:ln/>
        </p:spPr>
      </p:sp>
      <p:sp>
        <p:nvSpPr>
          <p:cNvPr id="12" name="Glass card"/>
          <p:cNvSpPr/>
          <p:nvPr/>
        </p:nvSpPr>
        <p:spPr>
          <a:xfrm>
            <a:off x="2633472" y="137160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3" name="Image 2" descr="Fa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632" y="15087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16352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FastAPI + JWT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2816352" y="2450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REST routers, validation, role checks</a:t>
            </a:r>
            <a:endParaRPr lang="en-US" sz="1200" dirty="0"/>
          </a:p>
        </p:txBody>
      </p:sp>
      <p:sp>
        <p:nvSpPr>
          <p:cNvPr id="16" name="Flow arrow"/>
          <p:cNvSpPr/>
          <p:nvPr/>
        </p:nvSpPr>
        <p:spPr>
          <a:xfrm>
            <a:off x="4462272" y="2103120"/>
            <a:ext cx="228600" cy="256032"/>
          </a:xfrm>
          <a:prstGeom prst="rightArrow">
            <a:avLst/>
          </a:prstGeom>
          <a:solidFill>
            <a:srgbClr val="38E8FF"/>
          </a:solidFill>
          <a:ln/>
        </p:spPr>
      </p:sp>
      <p:sp>
        <p:nvSpPr>
          <p:cNvPr id="17" name="Glass card"/>
          <p:cNvSpPr/>
          <p:nvPr/>
        </p:nvSpPr>
        <p:spPr>
          <a:xfrm>
            <a:off x="4718304" y="137160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8" name="Image 3" descr="FaCo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150876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901184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Service Layer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4901184" y="2450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Shared business logic for REST and AI</a:t>
            </a:r>
            <a:endParaRPr lang="en-US" sz="1200" dirty="0"/>
          </a:p>
        </p:txBody>
      </p:sp>
      <p:sp>
        <p:nvSpPr>
          <p:cNvPr id="21" name="Flow arrow"/>
          <p:cNvSpPr/>
          <p:nvPr/>
        </p:nvSpPr>
        <p:spPr>
          <a:xfrm>
            <a:off x="6547104" y="2103120"/>
            <a:ext cx="228600" cy="256032"/>
          </a:xfrm>
          <a:prstGeom prst="rightArrow">
            <a:avLst/>
          </a:prstGeom>
          <a:solidFill>
            <a:srgbClr val="38E8FF"/>
          </a:solidFill>
          <a:ln/>
        </p:spPr>
      </p:sp>
      <p:sp>
        <p:nvSpPr>
          <p:cNvPr id="22" name="Glass card"/>
          <p:cNvSpPr/>
          <p:nvPr/>
        </p:nvSpPr>
        <p:spPr>
          <a:xfrm>
            <a:off x="6803136" y="137160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23" name="Image 4" descr="FaData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296" y="1508760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86016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PostgreSQL + Redis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6986016" y="2450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pgvector storage, event cache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609844" y="3017520"/>
            <a:ext cx="0" cy="457200"/>
          </a:xfrm>
          <a:prstGeom prst="line">
            <a:avLst/>
          </a:prstGeom>
          <a:noFill/>
          <a:ln w="25400">
            <a:solidFill>
              <a:srgbClr val="38E8FF"/>
            </a:solidFill>
            <a:prstDash val="solid"/>
            <a:headEnd type="triangle"/>
            <a:tailEnd type="triangle"/>
          </a:ln>
        </p:spPr>
      </p:sp>
      <p:sp>
        <p:nvSpPr>
          <p:cNvPr id="27" name="Rules card"/>
          <p:cNvSpPr/>
          <p:nvPr/>
        </p:nvSpPr>
        <p:spPr>
          <a:xfrm>
            <a:off x="548640" y="352044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31520" y="3630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RULES ENFORCED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731520" y="3886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No duplicate or past-event registration</a:t>
            </a:r>
            <a:endParaRPr lang="en-US" sz="12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Seat availability</a:t>
            </a:r>
            <a:endParaRPr lang="en-US" sz="12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Venue conflict and capacity</a:t>
            </a:r>
            <a:endParaRPr lang="en-US" sz="1200" dirty="0"/>
          </a:p>
        </p:txBody>
      </p:sp>
      <p:sp>
        <p:nvSpPr>
          <p:cNvPr id="30" name="Agent card"/>
          <p:cNvSpPr/>
          <p:nvPr/>
        </p:nvSpPr>
        <p:spPr>
          <a:xfrm>
            <a:off x="4206240" y="3520440"/>
            <a:ext cx="4389120" cy="1051560"/>
          </a:xfrm>
          <a:prstGeom prst="roundRect">
            <a:avLst>
              <a:gd name="adj" fmla="val 8696"/>
            </a:avLst>
          </a:prstGeom>
          <a:solidFill>
            <a:srgbClr val="6366F1"/>
          </a:solidFill>
          <a:ln/>
        </p:spPr>
      </p:sp>
      <p:pic>
        <p:nvPicPr>
          <p:cNvPr id="31" name="Image 5" descr="FaRobo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3749040"/>
            <a:ext cx="548640" cy="5486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166360" y="3657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LangGraph Agent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516636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</a:rPr>
              <a:t>12 role-aware tools · hybrid RAG · gpt-oss-120b via OpenRouter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AGENTIC AI  ·  ROLES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56692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Features by Role</a:t>
            </a:r>
            <a:endParaRPr lang="en-US" sz="2800" dirty="0"/>
          </a:p>
        </p:txBody>
      </p:sp>
      <p:pic>
        <p:nvPicPr>
          <p:cNvPr id="4" name="Image 0" descr="Event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27448"/>
            <a:ext cx="329184" cy="329184"/>
          </a:xfrm>
          <a:prstGeom prst="rect">
            <a:avLst/>
          </a:prstGeom>
        </p:spPr>
      </p:pic>
      <p:sp>
        <p:nvSpPr>
          <p:cNvPr id="5" name="EventBot bubble"/>
          <p:cNvSpPr/>
          <p:nvPr/>
        </p:nvSpPr>
        <p:spPr>
          <a:xfrm>
            <a:off x="960120" y="4754880"/>
            <a:ext cx="69494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8E8FF">
                <a:alpha val="45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15568" y="4754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EventBot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Attendees chat with me; admins also get a 9-module control panel.</a:t>
            </a:r>
            <a:endParaRPr lang="en-US" sz="1100" dirty="0"/>
          </a:p>
        </p:txBody>
      </p:sp>
      <p:sp>
        <p:nvSpPr>
          <p:cNvPr id="7" name="Glass card"/>
          <p:cNvSpPr/>
          <p:nvPr/>
        </p:nvSpPr>
        <p:spPr>
          <a:xfrm>
            <a:off x="548640" y="13716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8" name="Image 1" descr="Fa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8" y="1494130"/>
            <a:ext cx="504749" cy="5047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5361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For Attendees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1488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AI-driven event search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Real-time seat tracking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Duplicate and past-event checks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Payment and feedback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AI chat assistant</a:t>
            </a:r>
            <a:endParaRPr lang="en-US" sz="1400" dirty="0"/>
          </a:p>
        </p:txBody>
      </p:sp>
      <p:sp>
        <p:nvSpPr>
          <p:cNvPr id="11" name="Glass card"/>
          <p:cNvSpPr/>
          <p:nvPr/>
        </p:nvSpPr>
        <p:spPr>
          <a:xfrm>
            <a:off x="4389120" y="1371600"/>
            <a:ext cx="4206240" cy="2651760"/>
          </a:xfrm>
          <a:prstGeom prst="roundRect">
            <a:avLst>
              <a:gd name="adj" fmla="val 344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2" name="Image 2" descr="FaUser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938" y="1494130"/>
            <a:ext cx="504749" cy="50474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12080" y="153619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For Admins  (ADMIN / MAIN_ADMIN)</a:t>
            </a:r>
            <a:endParaRPr lang="en-US" sz="1500" dirty="0"/>
          </a:p>
        </p:txBody>
      </p:sp>
      <p:sp>
        <p:nvSpPr>
          <p:cNvPr id="14" name="Module"/>
          <p:cNvSpPr/>
          <p:nvPr/>
        </p:nvSpPr>
        <p:spPr>
          <a:xfrm>
            <a:off x="4572000" y="2194560"/>
            <a:ext cx="118872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572000" y="21945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Dashboard</a:t>
            </a:r>
            <a:endParaRPr lang="en-US" sz="1200" dirty="0"/>
          </a:p>
        </p:txBody>
      </p:sp>
      <p:sp>
        <p:nvSpPr>
          <p:cNvPr id="16" name="Module"/>
          <p:cNvSpPr/>
          <p:nvPr/>
        </p:nvSpPr>
        <p:spPr>
          <a:xfrm>
            <a:off x="5852160" y="2194560"/>
            <a:ext cx="118872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852160" y="21945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Events</a:t>
            </a:r>
            <a:endParaRPr lang="en-US" sz="1200" dirty="0"/>
          </a:p>
        </p:txBody>
      </p:sp>
      <p:sp>
        <p:nvSpPr>
          <p:cNvPr id="18" name="Module"/>
          <p:cNvSpPr/>
          <p:nvPr/>
        </p:nvSpPr>
        <p:spPr>
          <a:xfrm>
            <a:off x="7132320" y="2194560"/>
            <a:ext cx="118872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132320" y="21945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Registrations</a:t>
            </a:r>
            <a:endParaRPr lang="en-US" sz="1200" dirty="0"/>
          </a:p>
        </p:txBody>
      </p:sp>
      <p:sp>
        <p:nvSpPr>
          <p:cNvPr id="20" name="Module"/>
          <p:cNvSpPr/>
          <p:nvPr/>
        </p:nvSpPr>
        <p:spPr>
          <a:xfrm>
            <a:off x="4572000" y="2779776"/>
            <a:ext cx="118872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572000" y="277977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Users</a:t>
            </a:r>
            <a:endParaRPr lang="en-US" sz="1200" dirty="0"/>
          </a:p>
        </p:txBody>
      </p:sp>
      <p:sp>
        <p:nvSpPr>
          <p:cNvPr id="22" name="Module"/>
          <p:cNvSpPr/>
          <p:nvPr/>
        </p:nvSpPr>
        <p:spPr>
          <a:xfrm>
            <a:off x="5852160" y="2779776"/>
            <a:ext cx="118872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852160" y="277977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Venues</a:t>
            </a:r>
            <a:endParaRPr lang="en-US" sz="1200" dirty="0"/>
          </a:p>
        </p:txBody>
      </p:sp>
      <p:sp>
        <p:nvSpPr>
          <p:cNvPr id="24" name="Module"/>
          <p:cNvSpPr/>
          <p:nvPr/>
        </p:nvSpPr>
        <p:spPr>
          <a:xfrm>
            <a:off x="7132320" y="2779776"/>
            <a:ext cx="118872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132320" y="277977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Feedback</a:t>
            </a:r>
            <a:endParaRPr lang="en-US" sz="1200" dirty="0"/>
          </a:p>
        </p:txBody>
      </p:sp>
      <p:sp>
        <p:nvSpPr>
          <p:cNvPr id="26" name="Module"/>
          <p:cNvSpPr/>
          <p:nvPr/>
        </p:nvSpPr>
        <p:spPr>
          <a:xfrm>
            <a:off x="4572000" y="3364992"/>
            <a:ext cx="118872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572000" y="33649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Payments</a:t>
            </a:r>
            <a:endParaRPr lang="en-US" sz="1200" dirty="0"/>
          </a:p>
        </p:txBody>
      </p:sp>
      <p:sp>
        <p:nvSpPr>
          <p:cNvPr id="28" name="Module"/>
          <p:cNvSpPr/>
          <p:nvPr/>
        </p:nvSpPr>
        <p:spPr>
          <a:xfrm>
            <a:off x="5852160" y="3364992"/>
            <a:ext cx="118872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852160" y="33649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AI Assistant</a:t>
            </a:r>
            <a:endParaRPr lang="en-US" sz="1200" dirty="0"/>
          </a:p>
        </p:txBody>
      </p:sp>
      <p:sp>
        <p:nvSpPr>
          <p:cNvPr id="30" name="Module"/>
          <p:cNvSpPr/>
          <p:nvPr/>
        </p:nvSpPr>
        <p:spPr>
          <a:xfrm>
            <a:off x="7132320" y="3364992"/>
            <a:ext cx="118872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132320" y="33649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Agent Logs</a:t>
            </a:r>
            <a:endParaRPr lang="en-US" sz="1200" dirty="0"/>
          </a:p>
        </p:txBody>
      </p:sp>
      <p:sp>
        <p:nvSpPr>
          <p:cNvPr id="32" name="Band"/>
          <p:cNvSpPr/>
          <p:nvPr/>
        </p:nvSpPr>
        <p:spPr>
          <a:xfrm>
            <a:off x="548640" y="4160520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Role-checked actions  •  Every AI run and tool call is logged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AGENTIC AI  ·  DATA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56692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Database Design</a:t>
            </a:r>
            <a:endParaRPr lang="en-US" sz="2800" dirty="0"/>
          </a:p>
        </p:txBody>
      </p:sp>
      <p:pic>
        <p:nvPicPr>
          <p:cNvPr id="4" name="Image 0" descr="Event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27448"/>
            <a:ext cx="329184" cy="329184"/>
          </a:xfrm>
          <a:prstGeom prst="rect">
            <a:avLst/>
          </a:prstGeom>
        </p:spPr>
      </p:pic>
      <p:sp>
        <p:nvSpPr>
          <p:cNvPr id="5" name="EventBot bubble"/>
          <p:cNvSpPr/>
          <p:nvPr/>
        </p:nvSpPr>
        <p:spPr>
          <a:xfrm>
            <a:off x="960120" y="4754880"/>
            <a:ext cx="69494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8E8FF">
                <a:alpha val="45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15568" y="4754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EventBot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My memory lives here, including every run and tool call I make.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965960" y="1783080"/>
            <a:ext cx="2743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 flipH="1">
            <a:off x="3657600" y="1783080"/>
            <a:ext cx="2743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948940" y="2331720"/>
            <a:ext cx="0" cy="86868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1257300" y="2331720"/>
            <a:ext cx="1691640" cy="86868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48940" y="2331720"/>
            <a:ext cx="1691640" cy="86868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2" name="Table"/>
          <p:cNvSpPr/>
          <p:nvPr/>
        </p:nvSpPr>
        <p:spPr>
          <a:xfrm>
            <a:off x="548640" y="141732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1508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venues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1810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capacity, location</a:t>
            </a:r>
            <a:endParaRPr lang="en-US" sz="1100" dirty="0"/>
          </a:p>
        </p:txBody>
      </p:sp>
      <p:sp>
        <p:nvSpPr>
          <p:cNvPr id="15" name="Table"/>
          <p:cNvSpPr/>
          <p:nvPr/>
        </p:nvSpPr>
        <p:spPr>
          <a:xfrm>
            <a:off x="2240280" y="141732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38E8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240280" y="1508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events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240280" y="1810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status, seats, price</a:t>
            </a:r>
            <a:endParaRPr lang="en-US" sz="1100" dirty="0"/>
          </a:p>
        </p:txBody>
      </p:sp>
      <p:sp>
        <p:nvSpPr>
          <p:cNvPr id="18" name="Table"/>
          <p:cNvSpPr/>
          <p:nvPr/>
        </p:nvSpPr>
        <p:spPr>
          <a:xfrm>
            <a:off x="3931920" y="141732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31920" y="1508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users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931920" y="1810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role, bcrypt hash</a:t>
            </a:r>
            <a:endParaRPr lang="en-US" sz="1100" dirty="0"/>
          </a:p>
        </p:txBody>
      </p:sp>
      <p:sp>
        <p:nvSpPr>
          <p:cNvPr id="21" name="Table"/>
          <p:cNvSpPr/>
          <p:nvPr/>
        </p:nvSpPr>
        <p:spPr>
          <a:xfrm>
            <a:off x="548640" y="320040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registrations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35935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unique user + event</a:t>
            </a:r>
            <a:endParaRPr lang="en-US" sz="1100" dirty="0"/>
          </a:p>
        </p:txBody>
      </p:sp>
      <p:sp>
        <p:nvSpPr>
          <p:cNvPr id="24" name="Table"/>
          <p:cNvSpPr/>
          <p:nvPr/>
        </p:nvSpPr>
        <p:spPr>
          <a:xfrm>
            <a:off x="2240280" y="320040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240280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payments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2240280" y="35935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amount, status</a:t>
            </a:r>
            <a:endParaRPr lang="en-US" sz="1100" dirty="0"/>
          </a:p>
        </p:txBody>
      </p:sp>
      <p:sp>
        <p:nvSpPr>
          <p:cNvPr id="27" name="Table"/>
          <p:cNvSpPr/>
          <p:nvPr/>
        </p:nvSpPr>
        <p:spPr>
          <a:xfrm>
            <a:off x="3931920" y="320040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931920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feedback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931920" y="35935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rating, comment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Registrations, payments and feedback link to users and events by foreign keys.</a:t>
            </a:r>
            <a:endParaRPr lang="en-US" sz="1300" dirty="0"/>
          </a:p>
        </p:txBody>
      </p:sp>
      <p:sp>
        <p:nvSpPr>
          <p:cNvPr id="31" name="Panel"/>
          <p:cNvSpPr/>
          <p:nvPr/>
        </p:nvSpPr>
        <p:spPr>
          <a:xfrm>
            <a:off x="5760720" y="1371600"/>
            <a:ext cx="2834640" cy="3200400"/>
          </a:xfrm>
          <a:prstGeom prst="roundRect">
            <a:avLst>
              <a:gd name="adj" fmla="val 322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943600" y="1463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13</a:t>
            </a:r>
            <a:endParaRPr lang="en-US" sz="4600" dirty="0"/>
          </a:p>
        </p:txBody>
      </p:sp>
      <p:sp>
        <p:nvSpPr>
          <p:cNvPr id="33" name="Text 30"/>
          <p:cNvSpPr txBox="1"/>
          <p:nvPr/>
        </p:nvSpPr>
        <p:spPr>
          <a:xfrm>
            <a:off x="685800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tables on PostgreSQL + pgvector, 9 Alembic migrations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943600" y="2423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AGENT &amp; KNOWLEDGE TABLES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0" y="2724912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agent_sessions, chat_messages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agent_runs, tool_calls (audit trail)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knowledge_documents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knowledge_chunks: 384-d vectors, HNSW + tsvector GIN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Staged 2048-d chunk table with rollback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AGENTIC AI  ·  AGENT ARCHITECTURE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56692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Agent Architecture</a:t>
            </a:r>
            <a:endParaRPr lang="en-US" sz="2800" dirty="0"/>
          </a:p>
        </p:txBody>
      </p:sp>
      <p:pic>
        <p:nvPicPr>
          <p:cNvPr id="4" name="Image 0" descr="Event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27448"/>
            <a:ext cx="329184" cy="329184"/>
          </a:xfrm>
          <a:prstGeom prst="rect">
            <a:avLst/>
          </a:prstGeom>
        </p:spPr>
      </p:pic>
      <p:sp>
        <p:nvSpPr>
          <p:cNvPr id="5" name="EventBot bubble"/>
          <p:cNvSpPr/>
          <p:nvPr/>
        </p:nvSpPr>
        <p:spPr>
          <a:xfrm>
            <a:off x="960120" y="4754880"/>
            <a:ext cx="69494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8E8FF">
                <a:alpha val="45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15568" y="4754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EventBot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My pipeline: intent router, LLM reasoner, tool executor, grounding check.</a:t>
            </a:r>
            <a:endParaRPr lang="en-US" sz="1100" dirty="0"/>
          </a:p>
        </p:txBody>
      </p:sp>
      <p:pic>
        <p:nvPicPr>
          <p:cNvPr id="7" name="Image 1" descr="Agent lo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737360"/>
            <a:ext cx="2560320" cy="2560320"/>
          </a:xfrm>
          <a:prstGeom prst="rect">
            <a:avLst/>
          </a:prstGeom>
        </p:spPr>
      </p:pic>
      <p:pic>
        <p:nvPicPr>
          <p:cNvPr id="8" name="Image 2" descr="EventB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288" y="2395728"/>
            <a:ext cx="786384" cy="7772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874520" y="33649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LangGraph agent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1874520" y="3593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up to 6 loops</a:t>
            </a:r>
            <a:endParaRPr lang="en-US" sz="1100" dirty="0"/>
          </a:p>
        </p:txBody>
      </p:sp>
      <p:pic>
        <p:nvPicPr>
          <p:cNvPr id="11" name="Image 3" descr="FaCommen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296" y="1591056"/>
            <a:ext cx="658368" cy="658368"/>
          </a:xfrm>
          <a:prstGeom prst="rect">
            <a:avLst/>
          </a:prstGeom>
        </p:spPr>
      </p:pic>
      <p:pic>
        <p:nvPicPr>
          <p:cNvPr id="12" name="Image 4" descr="FaBra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2688336"/>
            <a:ext cx="658368" cy="658368"/>
          </a:xfrm>
          <a:prstGeom prst="rect">
            <a:avLst/>
          </a:prstGeom>
        </p:spPr>
      </p:pic>
      <p:pic>
        <p:nvPicPr>
          <p:cNvPr id="13" name="Image 5" descr="FaTool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8296" y="3785616"/>
            <a:ext cx="658368" cy="658368"/>
          </a:xfrm>
          <a:prstGeom prst="rect">
            <a:avLst/>
          </a:prstGeom>
        </p:spPr>
      </p:pic>
      <p:pic>
        <p:nvPicPr>
          <p:cNvPr id="14" name="Image 6" descr="FaCheckCirc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1016" y="2688336"/>
            <a:ext cx="658368" cy="65836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1965960" y="1353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Intent Router</a:t>
            </a:r>
            <a:endParaRPr lang="en-US" sz="1200" dirty="0"/>
          </a:p>
        </p:txBody>
      </p:sp>
      <p:sp>
        <p:nvSpPr>
          <p:cNvPr id="16" name="Text 7"/>
          <p:cNvSpPr txBox="1"/>
          <p:nvPr/>
        </p:nvSpPr>
        <p:spPr>
          <a:xfrm>
            <a:off x="3474720" y="2377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LLM Reasoner</a:t>
            </a:r>
            <a:endParaRPr lang="en-US" sz="1200" dirty="0"/>
          </a:p>
        </p:txBody>
      </p:sp>
      <p:sp>
        <p:nvSpPr>
          <p:cNvPr id="17" name="Text 8"/>
          <p:cNvSpPr txBox="1"/>
          <p:nvPr/>
        </p:nvSpPr>
        <p:spPr>
          <a:xfrm>
            <a:off x="1965960" y="44074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Tool Executor</a:t>
            </a:r>
            <a:endParaRPr lang="en-US" sz="1200" dirty="0"/>
          </a:p>
        </p:txBody>
      </p:sp>
      <p:sp>
        <p:nvSpPr>
          <p:cNvPr id="18" name="Text 9"/>
          <p:cNvSpPr txBox="1"/>
          <p:nvPr/>
        </p:nvSpPr>
        <p:spPr>
          <a:xfrm>
            <a:off x="822960" y="24505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Grounding Check</a:t>
            </a:r>
            <a:endParaRPr lang="en-US" sz="1200" dirty="0"/>
          </a:p>
        </p:txBody>
      </p:sp>
      <p:sp>
        <p:nvSpPr>
          <p:cNvPr id="19" name="Glass card"/>
          <p:cNvSpPr/>
          <p:nvPr/>
        </p:nvSpPr>
        <p:spPr>
          <a:xfrm>
            <a:off x="5074920" y="1371600"/>
            <a:ext cx="352044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0" name="Text 11"/>
          <p:cNvSpPr txBox="1"/>
          <p:nvPr/>
        </p:nvSpPr>
        <p:spPr>
          <a:xfrm>
            <a:off x="5257800" y="1435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  Intent Router</a:t>
            </a:r>
            <a:endParaRPr lang="en-US" sz="1300" dirty="0"/>
          </a:p>
        </p:txBody>
      </p:sp>
      <p:sp>
        <p:nvSpPr>
          <p:cNvPr id="21" name="Text 12"/>
          <p:cNvSpPr txBox="1"/>
          <p:nvPr/>
        </p:nvSpPr>
        <p:spPr>
          <a:xfrm>
            <a:off x="5257800" y="168249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JWT sets identity and role; picks 1 of 11 intents; loads last 10 messages</a:t>
            </a:r>
            <a:endParaRPr lang="en-US" sz="1150" dirty="0"/>
          </a:p>
        </p:txBody>
      </p:sp>
      <p:sp>
        <p:nvSpPr>
          <p:cNvPr id="22" name="Glass card"/>
          <p:cNvSpPr/>
          <p:nvPr/>
        </p:nvSpPr>
        <p:spPr>
          <a:xfrm>
            <a:off x="5074920" y="2194560"/>
            <a:ext cx="352044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5257800" y="2258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02  LLM Reasoner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5257800" y="250545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gpt-oss-120b via OpenRouter, with fallback models, picks a tool or answers</a:t>
            </a:r>
            <a:endParaRPr lang="en-US" sz="1150" dirty="0"/>
          </a:p>
        </p:txBody>
      </p:sp>
      <p:sp>
        <p:nvSpPr>
          <p:cNvPr id="25" name="Glass card"/>
          <p:cNvSpPr/>
          <p:nvPr/>
        </p:nvSpPr>
        <p:spPr>
          <a:xfrm>
            <a:off x="5074920" y="3017520"/>
            <a:ext cx="352044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5257800" y="30815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  Tool Executor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5257800" y="332841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12 role-aware tools reuse REST services; RAG search for policy questions</a:t>
            </a:r>
            <a:endParaRPr lang="en-US" sz="1150" dirty="0"/>
          </a:p>
        </p:txBody>
      </p:sp>
      <p:sp>
        <p:nvSpPr>
          <p:cNvPr id="28" name="Glass card"/>
          <p:cNvSpPr/>
          <p:nvPr/>
        </p:nvSpPr>
        <p:spPr>
          <a:xfrm>
            <a:off x="5074920" y="3840480"/>
            <a:ext cx="352044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5257800" y="3904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04  Grounding Check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5257800" y="415137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Retries once or refuses; every run is logged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AGENTIC AI  ·  GROUNDING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56692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Hybrid RAG &amp; Grounded Answers</a:t>
            </a:r>
            <a:endParaRPr lang="en-US" sz="2800" dirty="0"/>
          </a:p>
        </p:txBody>
      </p:sp>
      <p:pic>
        <p:nvPicPr>
          <p:cNvPr id="4" name="Image 0" descr="Event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27448"/>
            <a:ext cx="329184" cy="329184"/>
          </a:xfrm>
          <a:prstGeom prst="rect">
            <a:avLst/>
          </a:prstGeom>
        </p:spPr>
      </p:pic>
      <p:sp>
        <p:nvSpPr>
          <p:cNvPr id="5" name="EventBot bubble"/>
          <p:cNvSpPr/>
          <p:nvPr/>
        </p:nvSpPr>
        <p:spPr>
          <a:xfrm>
            <a:off x="960120" y="4754880"/>
            <a:ext cx="69494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8E8FF">
                <a:alpha val="45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15568" y="4754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EventBot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 answer from policy documents, and refuse if I cannot ground it.</a:t>
            </a:r>
            <a:endParaRPr lang="en-US" sz="1100" dirty="0"/>
          </a:p>
        </p:txBody>
      </p:sp>
      <p:sp>
        <p:nvSpPr>
          <p:cNvPr id="7" name="Glass card"/>
          <p:cNvSpPr/>
          <p:nvPr/>
        </p:nvSpPr>
        <p:spPr>
          <a:xfrm>
            <a:off x="548640" y="1371600"/>
            <a:ext cx="1417320" cy="2377440"/>
          </a:xfrm>
          <a:prstGeom prst="roundRect">
            <a:avLst>
              <a:gd name="adj" fmla="val 645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8" name="Image 1" descr="FaFil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8" y="1466698"/>
            <a:ext cx="504749" cy="5047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087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Ingest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423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MarkItDown reads policy docs; small chunks merge into neighbours</a:t>
            </a:r>
            <a:endParaRPr lang="en-US" sz="1200" dirty="0"/>
          </a:p>
        </p:txBody>
      </p:sp>
      <p:sp>
        <p:nvSpPr>
          <p:cNvPr id="12" name="Flow arrow"/>
          <p:cNvSpPr/>
          <p:nvPr/>
        </p:nvSpPr>
        <p:spPr>
          <a:xfrm>
            <a:off x="1993392" y="2423160"/>
            <a:ext cx="182880" cy="219456"/>
          </a:xfrm>
          <a:prstGeom prst="rightArrow">
            <a:avLst/>
          </a:prstGeom>
          <a:solidFill>
            <a:srgbClr val="38E8FF"/>
          </a:solidFill>
          <a:ln/>
        </p:spPr>
      </p:sp>
      <p:sp>
        <p:nvSpPr>
          <p:cNvPr id="13" name="Glass card"/>
          <p:cNvSpPr/>
          <p:nvPr/>
        </p:nvSpPr>
        <p:spPr>
          <a:xfrm>
            <a:off x="2203704" y="1371600"/>
            <a:ext cx="1417320" cy="2377440"/>
          </a:xfrm>
          <a:prstGeom prst="roundRect">
            <a:avLst>
              <a:gd name="adj" fmla="val 645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4" name="Image 2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802" y="1466698"/>
            <a:ext cx="504749" cy="50474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80944" y="15087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2340864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Index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2340864" y="2423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384-d bge-small vectors with HNSW + tsvector GIN</a:t>
            </a:r>
            <a:endParaRPr lang="en-US" sz="1200" dirty="0"/>
          </a:p>
        </p:txBody>
      </p:sp>
      <p:sp>
        <p:nvSpPr>
          <p:cNvPr id="18" name="Flow arrow"/>
          <p:cNvSpPr/>
          <p:nvPr/>
        </p:nvSpPr>
        <p:spPr>
          <a:xfrm>
            <a:off x="3648456" y="2423160"/>
            <a:ext cx="182880" cy="219456"/>
          </a:xfrm>
          <a:prstGeom prst="rightArrow">
            <a:avLst/>
          </a:prstGeom>
          <a:solidFill>
            <a:srgbClr val="38E8FF"/>
          </a:solidFill>
          <a:ln/>
        </p:spPr>
      </p:sp>
      <p:sp>
        <p:nvSpPr>
          <p:cNvPr id="19" name="Glass card"/>
          <p:cNvSpPr/>
          <p:nvPr/>
        </p:nvSpPr>
        <p:spPr>
          <a:xfrm>
            <a:off x="3858768" y="1371600"/>
            <a:ext cx="1417320" cy="2377440"/>
          </a:xfrm>
          <a:prstGeom prst="roundRect">
            <a:avLst>
              <a:gd name="adj" fmla="val 645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20" name="Image 3" descr="Fa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3866" y="1466698"/>
            <a:ext cx="504749" cy="50474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636008" y="15087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3995928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Search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3995928" y="2423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Vector + keyword search, merged by RRF</a:t>
            </a:r>
            <a:endParaRPr lang="en-US" sz="1200" dirty="0"/>
          </a:p>
        </p:txBody>
      </p:sp>
      <p:sp>
        <p:nvSpPr>
          <p:cNvPr id="24" name="Flow arrow"/>
          <p:cNvSpPr/>
          <p:nvPr/>
        </p:nvSpPr>
        <p:spPr>
          <a:xfrm>
            <a:off x="5303520" y="2423160"/>
            <a:ext cx="182880" cy="219456"/>
          </a:xfrm>
          <a:prstGeom prst="rightArrow">
            <a:avLst/>
          </a:prstGeom>
          <a:solidFill>
            <a:srgbClr val="38E8FF"/>
          </a:solidFill>
          <a:ln/>
        </p:spPr>
      </p:sp>
      <p:sp>
        <p:nvSpPr>
          <p:cNvPr id="25" name="Glass card"/>
          <p:cNvSpPr/>
          <p:nvPr/>
        </p:nvSpPr>
        <p:spPr>
          <a:xfrm>
            <a:off x="5513832" y="1371600"/>
            <a:ext cx="1417320" cy="2377440"/>
          </a:xfrm>
          <a:prstGeom prst="roundRect">
            <a:avLst>
              <a:gd name="adj" fmla="val 645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26" name="Image 4" descr="FaFil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8930" y="1466698"/>
            <a:ext cx="504749" cy="50474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291072" y="15087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04</a:t>
            </a:r>
            <a:endParaRPr lang="en-US" sz="2000" dirty="0"/>
          </a:p>
        </p:txBody>
      </p:sp>
      <p:sp>
        <p:nvSpPr>
          <p:cNvPr id="28" name="Text 21"/>
          <p:cNvSpPr txBox="1"/>
          <p:nvPr/>
        </p:nvSpPr>
        <p:spPr>
          <a:xfrm>
            <a:off x="5650992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Rerank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5650992" y="2423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Reranked down to the top 4 chunks</a:t>
            </a:r>
            <a:endParaRPr lang="en-US" sz="1200" dirty="0"/>
          </a:p>
        </p:txBody>
      </p:sp>
      <p:sp>
        <p:nvSpPr>
          <p:cNvPr id="30" name="Flow arrow"/>
          <p:cNvSpPr/>
          <p:nvPr/>
        </p:nvSpPr>
        <p:spPr>
          <a:xfrm>
            <a:off x="6958584" y="2423160"/>
            <a:ext cx="182880" cy="219456"/>
          </a:xfrm>
          <a:prstGeom prst="rightArrow">
            <a:avLst/>
          </a:prstGeom>
          <a:solidFill>
            <a:srgbClr val="38E8FF"/>
          </a:solidFill>
          <a:ln/>
        </p:spPr>
      </p:sp>
      <p:sp>
        <p:nvSpPr>
          <p:cNvPr id="31" name="Glass card"/>
          <p:cNvSpPr/>
          <p:nvPr/>
        </p:nvSpPr>
        <p:spPr>
          <a:xfrm>
            <a:off x="7168896" y="1371600"/>
            <a:ext cx="1417320" cy="2377440"/>
          </a:xfrm>
          <a:prstGeom prst="roundRect">
            <a:avLst>
              <a:gd name="adj" fmla="val 645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32" name="Image 5" descr="FaCheckCirc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3994" y="1466698"/>
            <a:ext cx="504749" cy="504749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946136" y="15087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05</a:t>
            </a:r>
            <a:endParaRPr lang="en-US" sz="2000" dirty="0"/>
          </a:p>
        </p:txBody>
      </p:sp>
      <p:sp>
        <p:nvSpPr>
          <p:cNvPr id="34" name="Text 26"/>
          <p:cNvSpPr txBox="1"/>
          <p:nvPr/>
        </p:nvSpPr>
        <p:spPr>
          <a:xfrm>
            <a:off x="7306056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Answer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7306056" y="2423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LLM answers; grounding check retries once or refuses</a:t>
            </a:r>
            <a:endParaRPr lang="en-US" sz="1200" dirty="0"/>
          </a:p>
        </p:txBody>
      </p:sp>
      <p:sp>
        <p:nvSpPr>
          <p:cNvPr id="36" name="Stat"/>
          <p:cNvSpPr/>
          <p:nvPr/>
        </p:nvSpPr>
        <p:spPr>
          <a:xfrm>
            <a:off x="548640" y="39319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731520" y="3931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</a:t>
            </a:r>
            <a:endParaRPr lang="en-US" sz="3000" dirty="0"/>
          </a:p>
        </p:txBody>
      </p:sp>
      <p:sp>
        <p:nvSpPr>
          <p:cNvPr id="38" name="Text 30"/>
          <p:cNvSpPr txBox="1"/>
          <p:nvPr/>
        </p:nvSpPr>
        <p:spPr>
          <a:xfrm>
            <a:off x="1691640" y="3931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chunks after rerank</a:t>
            </a:r>
            <a:endParaRPr lang="en-US" sz="1200" dirty="0"/>
          </a:p>
        </p:txBody>
      </p:sp>
      <p:sp>
        <p:nvSpPr>
          <p:cNvPr id="39" name="Stat"/>
          <p:cNvSpPr/>
          <p:nvPr/>
        </p:nvSpPr>
        <p:spPr>
          <a:xfrm>
            <a:off x="3291840" y="39319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3474720" y="3931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2048-d</a:t>
            </a:r>
            <a:endParaRPr lang="en-US" sz="2000" dirty="0"/>
          </a:p>
        </p:txBody>
      </p:sp>
      <p:sp>
        <p:nvSpPr>
          <p:cNvPr id="41" name="Text 33"/>
          <p:cNvSpPr txBox="1"/>
          <p:nvPr/>
        </p:nvSpPr>
        <p:spPr>
          <a:xfrm>
            <a:off x="4434840" y="3931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staged index with rollback</a:t>
            </a:r>
            <a:endParaRPr lang="en-US" sz="1200" dirty="0"/>
          </a:p>
        </p:txBody>
      </p:sp>
      <p:sp>
        <p:nvSpPr>
          <p:cNvPr id="42" name="Stat"/>
          <p:cNvSpPr/>
          <p:nvPr/>
        </p:nvSpPr>
        <p:spPr>
          <a:xfrm>
            <a:off x="6035040" y="39319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6217920" y="3931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44" name="Text 36"/>
          <p:cNvSpPr txBox="1"/>
          <p:nvPr/>
        </p:nvSpPr>
        <p:spPr>
          <a:xfrm>
            <a:off x="7178040" y="3931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retry, then refuse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AGENTIC AI  ·  LESSONS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56692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Challenges &amp; Solutions</a:t>
            </a:r>
            <a:endParaRPr lang="en-US" sz="2800" dirty="0"/>
          </a:p>
        </p:txBody>
      </p:sp>
      <p:pic>
        <p:nvPicPr>
          <p:cNvPr id="4" name="Image 0" descr="Event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27448"/>
            <a:ext cx="329184" cy="329184"/>
          </a:xfrm>
          <a:prstGeom prst="rect">
            <a:avLst/>
          </a:prstGeom>
        </p:spPr>
      </p:pic>
      <p:sp>
        <p:nvSpPr>
          <p:cNvPr id="5" name="EventBot bubble"/>
          <p:cNvSpPr/>
          <p:nvPr/>
        </p:nvSpPr>
        <p:spPr>
          <a:xfrm>
            <a:off x="960120" y="4754880"/>
            <a:ext cx="69494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8E8FF">
                <a:alpha val="45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15568" y="4754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EventBot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Every bug taught me something. Here is how we fixed them.</a:t>
            </a:r>
            <a:endParaRPr lang="en-US" sz="1100" dirty="0"/>
          </a:p>
        </p:txBody>
      </p:sp>
      <p:sp>
        <p:nvSpPr>
          <p:cNvPr id="7" name="Glass card"/>
          <p:cNvSpPr/>
          <p:nvPr/>
        </p:nvSpPr>
        <p:spPr>
          <a:xfrm>
            <a:off x="548640" y="1371600"/>
            <a:ext cx="8046720" cy="694944"/>
          </a:xfrm>
          <a:prstGeom prst="roundRect">
            <a:avLst>
              <a:gd name="adj" fmla="val 1315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Silent retrieval bugs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7556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Short policy sections dropped</a:t>
            </a:r>
            <a:endParaRPr lang="en-US" sz="1250" dirty="0"/>
          </a:p>
        </p:txBody>
      </p:sp>
      <p:sp>
        <p:nvSpPr>
          <p:cNvPr id="10" name="Flow arrow"/>
          <p:cNvSpPr/>
          <p:nvPr/>
        </p:nvSpPr>
        <p:spPr>
          <a:xfrm>
            <a:off x="4160520" y="1600200"/>
            <a:ext cx="274320" cy="256032"/>
          </a:xfrm>
          <a:prstGeom prst="rightArrow">
            <a:avLst/>
          </a:prstGeom>
          <a:solidFill>
            <a:srgbClr val="38E8FF"/>
          </a:solidFill>
          <a:ln/>
        </p:spPr>
      </p:sp>
      <p:pic>
        <p:nvPicPr>
          <p:cNvPr id="11" name="Image 1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315" y="1488643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371600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Small chunks merge into neighbours</a:t>
            </a:r>
            <a:endParaRPr lang="en-US" sz="1350" dirty="0"/>
          </a:p>
        </p:txBody>
      </p:sp>
      <p:sp>
        <p:nvSpPr>
          <p:cNvPr id="13" name="Glass card"/>
          <p:cNvSpPr/>
          <p:nvPr/>
        </p:nvSpPr>
        <p:spPr>
          <a:xfrm>
            <a:off x="548640" y="2167128"/>
            <a:ext cx="8046720" cy="694944"/>
          </a:xfrm>
          <a:prstGeom prst="roundRect">
            <a:avLst>
              <a:gd name="adj" fmla="val 1315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77240" y="2258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Changing embedding models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25511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Embedding size changed</a:t>
            </a:r>
            <a:endParaRPr lang="en-US" sz="1250" dirty="0"/>
          </a:p>
        </p:txBody>
      </p:sp>
      <p:sp>
        <p:nvSpPr>
          <p:cNvPr id="16" name="Flow arrow"/>
          <p:cNvSpPr/>
          <p:nvPr/>
        </p:nvSpPr>
        <p:spPr>
          <a:xfrm>
            <a:off x="4160520" y="2395728"/>
            <a:ext cx="274320" cy="256032"/>
          </a:xfrm>
          <a:prstGeom prst="rightArrow">
            <a:avLst/>
          </a:prstGeom>
          <a:solidFill>
            <a:srgbClr val="38E8FF"/>
          </a:solidFill>
          <a:ln/>
        </p:spPr>
      </p:sp>
      <p:pic>
        <p:nvPicPr>
          <p:cNvPr id="17" name="Image 2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315" y="228417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66360" y="2167128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2048-d index staged beside 384-d, with rollback</a:t>
            </a:r>
            <a:endParaRPr lang="en-US" sz="1350" dirty="0"/>
          </a:p>
        </p:txBody>
      </p:sp>
      <p:sp>
        <p:nvSpPr>
          <p:cNvPr id="19" name="Glass card"/>
          <p:cNvSpPr/>
          <p:nvPr/>
        </p:nvSpPr>
        <p:spPr>
          <a:xfrm>
            <a:off x="548640" y="2962656"/>
            <a:ext cx="8046720" cy="694944"/>
          </a:xfrm>
          <a:prstGeom prst="roundRect">
            <a:avLst>
              <a:gd name="adj" fmla="val 1315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77240" y="3054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Agent inventing IDs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" y="33467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Invented record IDs</a:t>
            </a:r>
            <a:endParaRPr lang="en-US" sz="1250" dirty="0"/>
          </a:p>
        </p:txBody>
      </p:sp>
      <p:sp>
        <p:nvSpPr>
          <p:cNvPr id="22" name="Flow arrow"/>
          <p:cNvSpPr/>
          <p:nvPr/>
        </p:nvSpPr>
        <p:spPr>
          <a:xfrm>
            <a:off x="4160520" y="3191256"/>
            <a:ext cx="274320" cy="256032"/>
          </a:xfrm>
          <a:prstGeom prst="rightArrow">
            <a:avLst/>
          </a:prstGeom>
          <a:solidFill>
            <a:srgbClr val="38E8FF"/>
          </a:solidFill>
          <a:ln/>
        </p:spPr>
      </p:sp>
      <p:pic>
        <p:nvPicPr>
          <p:cNvPr id="23" name="Image 3" descr="Fa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9315" y="3079699"/>
            <a:ext cx="460858" cy="46085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166360" y="2962656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Strict prompts, venue lookup tool, identity from JWT</a:t>
            </a:r>
            <a:endParaRPr lang="en-US" sz="1350" dirty="0"/>
          </a:p>
        </p:txBody>
      </p:sp>
      <p:sp>
        <p:nvSpPr>
          <p:cNvPr id="25" name="Glass card"/>
          <p:cNvSpPr/>
          <p:nvPr/>
        </p:nvSpPr>
        <p:spPr>
          <a:xfrm>
            <a:off x="548640" y="3758184"/>
            <a:ext cx="8046720" cy="694944"/>
          </a:xfrm>
          <a:prstGeom prst="roundRect">
            <a:avLst>
              <a:gd name="adj" fmla="val 1315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77240" y="3849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Slow free models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777240" y="41422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Replies took 40 to 50 s</a:t>
            </a:r>
            <a:endParaRPr lang="en-US" sz="1250" dirty="0"/>
          </a:p>
        </p:txBody>
      </p:sp>
      <p:sp>
        <p:nvSpPr>
          <p:cNvPr id="28" name="Flow arrow"/>
          <p:cNvSpPr/>
          <p:nvPr/>
        </p:nvSpPr>
        <p:spPr>
          <a:xfrm>
            <a:off x="4160520" y="3986784"/>
            <a:ext cx="274320" cy="256032"/>
          </a:xfrm>
          <a:prstGeom prst="rightArrow">
            <a:avLst/>
          </a:prstGeom>
          <a:solidFill>
            <a:srgbClr val="38E8FF"/>
          </a:solidFill>
          <a:ln/>
        </p:spPr>
      </p:sp>
      <p:pic>
        <p:nvPicPr>
          <p:cNvPr id="29" name="Image 4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9315" y="3875227"/>
            <a:ext cx="460858" cy="46085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166360" y="3758184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Fallback models, retries and feature flags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AGENTIC AI  ·  ROADMAP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56692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Future Scope</a:t>
            </a:r>
            <a:endParaRPr lang="en-US" sz="2800" dirty="0"/>
          </a:p>
        </p:txBody>
      </p:sp>
      <p:pic>
        <p:nvPicPr>
          <p:cNvPr id="4" name="Image 0" descr="Event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27448"/>
            <a:ext cx="329184" cy="329184"/>
          </a:xfrm>
          <a:prstGeom prst="rect">
            <a:avLst/>
          </a:prstGeom>
        </p:spPr>
      </p:pic>
      <p:sp>
        <p:nvSpPr>
          <p:cNvPr id="5" name="EventBot bubble"/>
          <p:cNvSpPr/>
          <p:nvPr/>
        </p:nvSpPr>
        <p:spPr>
          <a:xfrm>
            <a:off x="960120" y="4754880"/>
            <a:ext cx="69494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38E8FF">
                <a:alpha val="45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15568" y="4754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EventBot 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Next: alerts, real payments, recommendations and cloud hosting.</a:t>
            </a:r>
            <a:endParaRPr lang="en-US" sz="1100" dirty="0"/>
          </a:p>
        </p:txBody>
      </p:sp>
      <p:sp>
        <p:nvSpPr>
          <p:cNvPr id="7" name="Glass card"/>
          <p:cNvSpPr/>
          <p:nvPr/>
        </p:nvSpPr>
        <p:spPr>
          <a:xfrm>
            <a:off x="548640" y="13716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8" name="Image 1" descr="FaBe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81912"/>
            <a:ext cx="768096" cy="7680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4904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16916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Notifications &amp; real payments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208483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Email/SMS alerts and a live payment gateway</a:t>
            </a:r>
            <a:endParaRPr lang="en-US" sz="1300" dirty="0"/>
          </a:p>
        </p:txBody>
      </p:sp>
      <p:sp>
        <p:nvSpPr>
          <p:cNvPr id="12" name="Glass card"/>
          <p:cNvSpPr/>
          <p:nvPr/>
        </p:nvSpPr>
        <p:spPr>
          <a:xfrm>
            <a:off x="4663440" y="13716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3" name="Image 2" descr="FaChartL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581912"/>
            <a:ext cx="768096" cy="7680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86384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5760720" y="16916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Recommendations &amp; analytics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760720" y="208483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Interest-based suggestions and insight dashboards</a:t>
            </a:r>
            <a:endParaRPr lang="en-US" sz="1300" dirty="0"/>
          </a:p>
        </p:txBody>
      </p:sp>
      <p:sp>
        <p:nvSpPr>
          <p:cNvPr id="17" name="Glass card"/>
          <p:cNvSpPr/>
          <p:nvPr/>
        </p:nvSpPr>
        <p:spPr>
          <a:xfrm>
            <a:off x="548640" y="30632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8" name="Image 3" descr="FaBo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273552"/>
            <a:ext cx="768096" cy="7680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749040" y="4160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1645920" y="3383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Speed &amp; scale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1645920" y="377647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Faster model, background ingestion, 2048-d index</a:t>
            </a:r>
            <a:endParaRPr lang="en-US" sz="1300" dirty="0"/>
          </a:p>
        </p:txBody>
      </p:sp>
      <p:sp>
        <p:nvSpPr>
          <p:cNvPr id="22" name="Glass card"/>
          <p:cNvSpPr/>
          <p:nvPr/>
        </p:nvSpPr>
        <p:spPr>
          <a:xfrm>
            <a:off x="4663440" y="30632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23" name="Image 4" descr="FaClo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273552"/>
            <a:ext cx="768096" cy="76809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863840" y="4160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5760720" y="3383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Cloud deployment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5760720" y="377647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Hosted Docker, HTTPS, rate limiting, monitoring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AGENTIC AI  · 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Conclusion</a:t>
            </a:r>
            <a:endParaRPr lang="en-US" sz="3800" dirty="0"/>
          </a:p>
        </p:txBody>
      </p:sp>
      <p:pic>
        <p:nvPicPr>
          <p:cNvPr id="4" name="Image 0" descr="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005840" cy="411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691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One platform for events, registrations, venues, payments and feedback, plus a LangGraph agent with 12 role-aware tools and hybrid RAG for grounded answers.</a:t>
            </a:r>
            <a:endParaRPr lang="en-US" sz="1500" dirty="0"/>
          </a:p>
        </p:txBody>
      </p:sp>
      <p:sp>
        <p:nvSpPr>
          <p:cNvPr id="6" name="Glass card"/>
          <p:cNvSpPr/>
          <p:nvPr/>
        </p:nvSpPr>
        <p:spPr>
          <a:xfrm>
            <a:off x="548640" y="2788920"/>
            <a:ext cx="246888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7" name="Image 1" descr="FaLayer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944368"/>
            <a:ext cx="438912" cy="4389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2880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Full-stack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31729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13 tables · 9 API groups</a:t>
            </a:r>
            <a:endParaRPr lang="en-US" sz="1200" dirty="0"/>
          </a:p>
        </p:txBody>
      </p:sp>
      <p:sp>
        <p:nvSpPr>
          <p:cNvPr id="10" name="Glass card"/>
          <p:cNvSpPr/>
          <p:nvPr/>
        </p:nvSpPr>
        <p:spPr>
          <a:xfrm>
            <a:off x="3154680" y="2788920"/>
            <a:ext cx="246888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1" name="Image 2" descr="FaRob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2944368"/>
            <a:ext cx="438912" cy="4389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840480" y="2880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Agentic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3840480" y="31729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12 tools · hybrid RAG</a:t>
            </a:r>
            <a:endParaRPr lang="en-US" sz="1200" dirty="0"/>
          </a:p>
        </p:txBody>
      </p:sp>
      <p:sp>
        <p:nvSpPr>
          <p:cNvPr id="14" name="Glass card"/>
          <p:cNvSpPr/>
          <p:nvPr/>
        </p:nvSpPr>
        <p:spPr>
          <a:xfrm>
            <a:off x="548640" y="3657600"/>
            <a:ext cx="246888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5" name="Image 3" descr="FaCheck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813048"/>
            <a:ext cx="438912" cy="43891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3749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Reliable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1234440" y="40416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166 tests passing</a:t>
            </a:r>
            <a:endParaRPr lang="en-US" sz="1200" dirty="0"/>
          </a:p>
        </p:txBody>
      </p:sp>
      <p:sp>
        <p:nvSpPr>
          <p:cNvPr id="18" name="Glass card"/>
          <p:cNvSpPr/>
          <p:nvPr/>
        </p:nvSpPr>
        <p:spPr>
          <a:xfrm>
            <a:off x="3154680" y="3657600"/>
            <a:ext cx="2468880" cy="749808"/>
          </a:xfrm>
          <a:prstGeom prst="roundRect">
            <a:avLst>
              <a:gd name="adj" fmla="val 1219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pic>
        <p:nvPicPr>
          <p:cNvPr id="19" name="Image 4" descr="FaRock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3813048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840480" y="3749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Extensible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3840480" y="40416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Payments, alerts, cloud</a:t>
            </a:r>
            <a:endParaRPr lang="en-US" sz="1200" dirty="0"/>
          </a:p>
        </p:txBody>
      </p:sp>
      <p:pic>
        <p:nvPicPr>
          <p:cNvPr id="22" name="Image 5" descr="EventBot masco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822960"/>
            <a:ext cx="2377440" cy="2523744"/>
          </a:xfrm>
          <a:prstGeom prst="rect">
            <a:avLst/>
          </a:prstGeom>
        </p:spPr>
      </p:pic>
      <p:sp>
        <p:nvSpPr>
          <p:cNvPr id="23" name="Speech bubble"/>
          <p:cNvSpPr/>
          <p:nvPr/>
        </p:nvSpPr>
        <p:spPr>
          <a:xfrm>
            <a:off x="5806440" y="3611880"/>
            <a:ext cx="283464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5806440" y="3611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Thank You!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entBot Aurora">
  <a:themeElements>
    <a:clrScheme name="EventBot Aurora">
      <a:dk1>
        <a:srgbClr val="070D26"/>
      </a:dk1>
      <a:lt1>
        <a:srgbClr val="FFFFFF"/>
      </a:lt1>
      <a:dk2>
        <a:srgbClr val="1B1F6B"/>
      </a:dk2>
      <a:lt2>
        <a:srgbClr val="12185A"/>
      </a:lt2>
      <a:accent1>
        <a:srgbClr val="38E8FF"/>
      </a:accent1>
      <a:accent2>
        <a:srgbClr val="A78BFA"/>
      </a:accent2>
      <a:accent3>
        <a:srgbClr val="6366F1"/>
      </a:accent3>
      <a:accent4>
        <a:srgbClr val="F472B6"/>
      </a:accent4>
      <a:accent5>
        <a:srgbClr val="B9C6F0"/>
      </a:accent5>
      <a:accent6>
        <a:srgbClr val="C4B5FD"/>
      </a:accent6>
      <a:hlink>
        <a:srgbClr val="38E8FF"/>
      </a:hlink>
      <a:folHlink>
        <a:srgbClr val="B9C6F0"/>
      </a:folHlink>
    </a:clrScheme>
    <a:fontScheme name="EventBot Auror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Powered Smart Event Management System</dc:title>
  <dc:subject>PptxGenJS Presentation</dc:subject>
  <dc:creator>Team C</dc:creator>
  <cp:lastModifiedBy>Team C</cp:lastModifiedBy>
  <cp:revision>1</cp:revision>
  <dcterms:created xsi:type="dcterms:W3CDTF">2026-10-17T06:11:18Z</dcterms:created>
  <dcterms:modified xsi:type="dcterms:W3CDTF">2026-10-17T06:11:18Z</dcterms:modified>
</cp:coreProperties>
</file>